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60152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>
                <a:solidFill>
                  <a:srgbClr val="89B4FA"/>
                </a:solidFill>
                <a:latin typeface="Segoe UI"/>
              </a:defRPr>
            </a:pPr>
            <a:r>
              <a:t>YouTube AI Study Assistant</a:t>
            </a:r>
          </a:p>
          <a:p>
            <a:pPr algn="ctr">
              <a:spcBef>
                <a:spcPts val="2000"/>
              </a:spcBef>
              <a:defRPr sz="2200">
                <a:solidFill>
                  <a:srgbClr val="CBA6F7"/>
                </a:solidFill>
                <a:latin typeface="Segoe UI"/>
              </a:defRPr>
            </a:pPr>
            <a:r>
              <a:t>Interactive Chrome Extension &amp; Stateful RAG Backend</a:t>
            </a:r>
          </a:p>
          <a:p>
            <a:pPr algn="ctr">
              <a:spcBef>
                <a:spcPts val="4000"/>
              </a:spcBef>
              <a:defRPr sz="1600">
                <a:solidFill>
                  <a:srgbClr val="A6ADC8"/>
                </a:solidFill>
                <a:latin typeface="Segoe UI"/>
              </a:defRPr>
            </a:pPr>
            <a:r>
              <a:t>FastAPI  •  LangChain  •  LangGraph  •  FAISS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89B4FA"/>
                </a:solidFill>
                <a:latin typeface="Segoe UI"/>
              </a:defRPr>
            </a:pPr>
            <a:r>
              <a:t>Introduction &amp; Motivation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6015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600"/>
              </a:spcAft>
              <a:defRPr sz="1800" b="1">
                <a:solidFill>
                  <a:srgbClr val="CBA6F7"/>
                </a:solidFill>
                <a:latin typeface="Segoe UI"/>
              </a:defRPr>
            </a:pPr>
            <a:r>
              <a:t>•  Passive Video Consumption: </a:t>
            </a:r>
            <a:r>
              <a:rPr sz="1600" b="0">
                <a:solidFill>
                  <a:srgbClr val="CDD6F4"/>
                </a:solidFill>
                <a:latin typeface="Segoe UI"/>
              </a:rPr>
              <a:t>Watching educational videos is passive. Viewers struggle to actively retain concepts, take notes, or test themselves during the video.</a:t>
            </a:r>
          </a:p>
          <a:p>
            <a:pPr>
              <a:spcAft>
                <a:spcPts val="1600"/>
              </a:spcAft>
              <a:defRPr sz="1800" b="1">
                <a:solidFill>
                  <a:srgbClr val="CBA6F7"/>
                </a:solidFill>
                <a:latin typeface="Segoe UI"/>
              </a:defRPr>
            </a:pPr>
            <a:r>
              <a:t>•  Navigation Friction: </a:t>
            </a:r>
            <a:r>
              <a:rPr sz="1600" b="0">
                <a:solidFill>
                  <a:srgbClr val="CDD6F4"/>
                </a:solidFill>
                <a:latin typeface="Segoe UI"/>
              </a:rPr>
              <a:t>Manually hunting for specific explanations, action items, or code snippets in 30+ minute videos requires endless seeking back and forth.</a:t>
            </a:r>
          </a:p>
          <a:p>
            <a:pPr>
              <a:spcAft>
                <a:spcPts val="1600"/>
              </a:spcAft>
              <a:defRPr sz="1800" b="1">
                <a:solidFill>
                  <a:srgbClr val="CBA6F7"/>
                </a:solidFill>
                <a:latin typeface="Segoe UI"/>
              </a:defRPr>
            </a:pPr>
            <a:r>
              <a:t>•  Gemini API Rate Limits (429 Errors): </a:t>
            </a:r>
            <a:r>
              <a:rPr sz="1600" b="0">
                <a:solidFill>
                  <a:srgbClr val="CDD6F4"/>
                </a:solidFill>
                <a:latin typeface="Segoe UI"/>
              </a:rPr>
              <a:t>Linear chat bots hitting limits break active learning sessions. There is a need for robust, cost-free local embedding models and reliable serverless LLM fail-safes.</a:t>
            </a:r>
          </a:p>
          <a:p>
            <a:pPr>
              <a:spcAft>
                <a:spcPts val="1600"/>
              </a:spcAft>
              <a:defRPr sz="1800" b="1">
                <a:solidFill>
                  <a:srgbClr val="CBA6F7"/>
                </a:solidFill>
                <a:latin typeface="Segoe UI"/>
              </a:defRPr>
            </a:pPr>
            <a:r>
              <a:t>•  Stateful Learning Pipeline: </a:t>
            </a:r>
            <a:r>
              <a:rPr sz="1600" b="0">
                <a:solidFill>
                  <a:srgbClr val="CDD6F4"/>
                </a:solidFill>
                <a:latin typeface="Segoe UI"/>
              </a:rPr>
              <a:t>Standard linear prompts lack contextual continuity. The project requires a stateful orchestrator to dynamically link summaries, quizzes, and learning roadmaps.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89B4FA"/>
                </a:solidFill>
                <a:latin typeface="Segoe UI"/>
              </a:defRPr>
            </a:pPr>
            <a:r>
              <a:t>System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645920"/>
            <a:ext cx="3291840" cy="4114800"/>
          </a:xfrm>
          <a:prstGeom prst="rect">
            <a:avLst/>
          </a:prstGeom>
          <a:solidFill>
            <a:srgbClr val="252538"/>
          </a:solidFill>
          <a:ln w="12700">
            <a:solidFill>
              <a:srgbClr val="89B4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645920"/>
            <a:ext cx="3291840" cy="4114800"/>
          </a:xfrm>
          <a:prstGeom prst="rect">
            <a:avLst/>
          </a:prstGeom>
          <a:noFill/>
        </p:spPr>
        <p:txBody>
          <a:bodyPr wrap="square" lIns="182880" rIns="182880" tIns="182880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89B4FA"/>
                </a:solidFill>
                <a:latin typeface="Segoe UI"/>
              </a:defRPr>
            </a:pPr>
            <a:r>
              <a:t>1. Frontend Extension</a:t>
            </a:r>
          </a:p>
          <a:p>
            <a:pPr>
              <a:spcAft>
                <a:spcPts val="1400"/>
              </a:spcAft>
              <a:defRPr sz="1200">
                <a:solidFill>
                  <a:srgbClr val="CBA6F7"/>
                </a:solidFill>
                <a:latin typeface="Segoe UI"/>
              </a:defRPr>
            </a:pPr>
            <a:r>
              <a:t>Injected directly into YouTube watch pages.</a:t>
            </a:r>
          </a:p>
          <a:p>
            <a:pPr>
              <a:spcBef>
                <a:spcPts val="400"/>
              </a:spcBef>
              <a:defRPr sz="1200">
                <a:solidFill>
                  <a:srgbClr val="CDD6F4"/>
                </a:solidFill>
                <a:latin typeface="Segoe UI"/>
              </a:defRPr>
            </a:pPr>
            <a:r>
              <a:t>• Content Script (content.js) builds the floating sidebar DOM.</a:t>
            </a:r>
          </a:p>
          <a:p>
            <a:pPr>
              <a:spcBef>
                <a:spcPts val="400"/>
              </a:spcBef>
              <a:defRPr sz="1200">
                <a:solidFill>
                  <a:srgbClr val="CDD6F4"/>
                </a:solidFill>
                <a:latin typeface="Segoe UI"/>
              </a:defRPr>
            </a:pPr>
            <a:r>
              <a:t>• Listens to dynamic watch URL page changes (YouTube SPA).</a:t>
            </a:r>
          </a:p>
          <a:p>
            <a:pPr>
              <a:spcBef>
                <a:spcPts val="400"/>
              </a:spcBef>
              <a:defRPr sz="1200">
                <a:solidFill>
                  <a:srgbClr val="CDD6F4"/>
                </a:solidFill>
                <a:latin typeface="Segoe UI"/>
              </a:defRPr>
            </a:pPr>
            <a:r>
              <a:t>• Dispatches API actions and receives JSON results.</a:t>
            </a:r>
          </a:p>
          <a:p>
            <a:pPr>
              <a:spcBef>
                <a:spcPts val="400"/>
              </a:spcBef>
              <a:defRPr sz="1200">
                <a:solidFill>
                  <a:srgbClr val="CDD6F4"/>
                </a:solidFill>
                <a:latin typeface="Segoe UI"/>
              </a:defRPr>
            </a:pPr>
            <a:r>
              <a:t>• Triggers play/seek commands directly in HTML5 player.</a:t>
            </a:r>
          </a:p>
        </p:txBody>
      </p:sp>
      <p:sp>
        <p:nvSpPr>
          <p:cNvPr id="5" name="Rectangle 4"/>
          <p:cNvSpPr/>
          <p:nvPr/>
        </p:nvSpPr>
        <p:spPr>
          <a:xfrm>
            <a:off x="4343400" y="1645920"/>
            <a:ext cx="3291840" cy="4114800"/>
          </a:xfrm>
          <a:prstGeom prst="rect">
            <a:avLst/>
          </a:prstGeom>
          <a:solidFill>
            <a:srgbClr val="252538"/>
          </a:solidFill>
          <a:ln w="12700">
            <a:solidFill>
              <a:srgbClr val="89B4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43400" y="1645920"/>
            <a:ext cx="3291840" cy="4114800"/>
          </a:xfrm>
          <a:prstGeom prst="rect">
            <a:avLst/>
          </a:prstGeom>
          <a:noFill/>
        </p:spPr>
        <p:txBody>
          <a:bodyPr wrap="square" lIns="182880" rIns="182880" tIns="182880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89B4FA"/>
                </a:solidFill>
                <a:latin typeface="Segoe UI"/>
              </a:defRPr>
            </a:pPr>
            <a:r>
              <a:t>2. FastAPI Backend</a:t>
            </a:r>
          </a:p>
          <a:p>
            <a:pPr>
              <a:spcAft>
                <a:spcPts val="1400"/>
              </a:spcAft>
              <a:defRPr sz="1200">
                <a:solidFill>
                  <a:srgbClr val="CBA6F7"/>
                </a:solidFill>
                <a:latin typeface="Segoe UI"/>
              </a:defRPr>
            </a:pPr>
            <a:r>
              <a:t>A high-performance asynchronous REST API.</a:t>
            </a:r>
          </a:p>
          <a:p>
            <a:pPr>
              <a:spcBef>
                <a:spcPts val="400"/>
              </a:spcBef>
              <a:defRPr sz="1200">
                <a:solidFill>
                  <a:srgbClr val="CDD6F4"/>
                </a:solidFill>
                <a:latin typeface="Segoe UI"/>
              </a:defRPr>
            </a:pPr>
            <a:r>
              <a:t>• Asynchronous handlers handle process-video, asks, and summary.</a:t>
            </a:r>
          </a:p>
          <a:p>
            <a:pPr>
              <a:spcBef>
                <a:spcPts val="400"/>
              </a:spcBef>
              <a:defRPr sz="1200">
                <a:solidFill>
                  <a:srgbClr val="CDD6F4"/>
                </a:solidFill>
                <a:latin typeface="Segoe UI"/>
              </a:defRPr>
            </a:pPr>
            <a:r>
              <a:t>• Local FAISS vector indexes hold transcript embedding models.</a:t>
            </a:r>
          </a:p>
          <a:p>
            <a:pPr>
              <a:spcBef>
                <a:spcPts val="400"/>
              </a:spcBef>
              <a:defRPr sz="1200">
                <a:solidFill>
                  <a:srgbClr val="CDD6F4"/>
                </a:solidFill>
                <a:latin typeface="Segoe UI"/>
              </a:defRPr>
            </a:pPr>
            <a:r>
              <a:t>• Splits transcripts recursively into overlapping chunks.</a:t>
            </a:r>
          </a:p>
          <a:p>
            <a:pPr>
              <a:spcBef>
                <a:spcPts val="400"/>
              </a:spcBef>
              <a:defRPr sz="1200">
                <a:solidFill>
                  <a:srgbClr val="CDD6F4"/>
                </a:solidFill>
                <a:latin typeface="Segoe UI"/>
              </a:defRPr>
            </a:pPr>
            <a:r>
              <a:t>• Organized in a clean, maintainable modular structure.</a:t>
            </a:r>
          </a:p>
        </p:txBody>
      </p:sp>
      <p:sp>
        <p:nvSpPr>
          <p:cNvPr id="7" name="Rectangle 6"/>
          <p:cNvSpPr/>
          <p:nvPr/>
        </p:nvSpPr>
        <p:spPr>
          <a:xfrm>
            <a:off x="8001000" y="1645920"/>
            <a:ext cx="3291840" cy="4114800"/>
          </a:xfrm>
          <a:prstGeom prst="rect">
            <a:avLst/>
          </a:prstGeom>
          <a:solidFill>
            <a:srgbClr val="252538"/>
          </a:solidFill>
          <a:ln w="12700">
            <a:solidFill>
              <a:srgbClr val="89B4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01000" y="1645920"/>
            <a:ext cx="3291840" cy="4114800"/>
          </a:xfrm>
          <a:prstGeom prst="rect">
            <a:avLst/>
          </a:prstGeom>
          <a:noFill/>
        </p:spPr>
        <p:txBody>
          <a:bodyPr wrap="square" lIns="182880" rIns="182880" tIns="182880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89B4FA"/>
                </a:solidFill>
                <a:latin typeface="Segoe UI"/>
              </a:defRPr>
            </a:pPr>
            <a:r>
              <a:t>3. AI Pipeline Engine</a:t>
            </a:r>
          </a:p>
          <a:p>
            <a:pPr>
              <a:spcAft>
                <a:spcPts val="1400"/>
              </a:spcAft>
              <a:defRPr sz="1200">
                <a:solidFill>
                  <a:srgbClr val="CBA6F7"/>
                </a:solidFill>
                <a:latin typeface="Segoe UI"/>
              </a:defRPr>
            </a:pPr>
            <a:r>
              <a:t>The intelligence layer running models.</a:t>
            </a:r>
          </a:p>
          <a:p>
            <a:pPr>
              <a:spcBef>
                <a:spcPts val="400"/>
              </a:spcBef>
              <a:defRPr sz="1200">
                <a:solidFill>
                  <a:srgbClr val="CDD6F4"/>
                </a:solidFill>
                <a:latin typeface="Segoe UI"/>
              </a:defRPr>
            </a:pPr>
            <a:r>
              <a:t>• MiniLM-L6-v2 handles local CPU embeddings (100% free).</a:t>
            </a:r>
          </a:p>
          <a:p>
            <a:pPr>
              <a:spcBef>
                <a:spcPts val="400"/>
              </a:spcBef>
              <a:defRPr sz="1200">
                <a:solidFill>
                  <a:srgbClr val="CDD6F4"/>
                </a:solidFill>
                <a:latin typeface="Segoe UI"/>
              </a:defRPr>
            </a:pPr>
            <a:r>
              <a:t>• Serverless Llama-3.1-8B-Instruct executes RAG generations.</a:t>
            </a:r>
          </a:p>
          <a:p>
            <a:pPr>
              <a:spcBef>
                <a:spcPts val="400"/>
              </a:spcBef>
              <a:defRPr sz="1200">
                <a:solidFill>
                  <a:srgbClr val="CDD6F4"/>
                </a:solidFill>
                <a:latin typeface="Segoe UI"/>
              </a:defRPr>
            </a:pPr>
            <a:r>
              <a:t>• StateGraph (LangGraph) manages sequential pipeline routing.</a:t>
            </a:r>
          </a:p>
          <a:p>
            <a:pPr>
              <a:spcBef>
                <a:spcPts val="400"/>
              </a:spcBef>
              <a:defRPr sz="1200">
                <a:solidFill>
                  <a:srgbClr val="CDD6F4"/>
                </a:solidFill>
                <a:latin typeface="Segoe UI"/>
              </a:defRPr>
            </a:pPr>
            <a:r>
              <a:t>• Robust parser recovers and extracts structured markdown data.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89B4FA"/>
                </a:solidFill>
                <a:latin typeface="Segoe UI"/>
              </a:defRPr>
            </a:pPr>
            <a:r>
              <a:t>Key Features &amp; Core Capabilities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6015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600"/>
              </a:spcAft>
              <a:defRPr sz="1800" b="1">
                <a:solidFill>
                  <a:srgbClr val="CBA6F7"/>
                </a:solidFill>
                <a:latin typeface="Segoe UI"/>
              </a:defRPr>
            </a:pPr>
            <a:r>
              <a:t>•  Clickable Video Timestamps: </a:t>
            </a:r>
            <a:r>
              <a:rPr sz="1600" b="0">
                <a:solidFill>
                  <a:srgbClr val="CDD6F4"/>
                </a:solidFill>
                <a:latin typeface="Segoe UI"/>
              </a:rPr>
              <a:t>The Summarizer Agent tags key topics with standard [MM:SS] strings. The extension parses them into clickable badges that seek the video player automatically.</a:t>
            </a:r>
          </a:p>
          <a:p>
            <a:pPr>
              <a:spcAft>
                <a:spcPts val="1600"/>
              </a:spcAft>
              <a:defRPr sz="1800" b="1">
                <a:solidFill>
                  <a:srgbClr val="CBA6F7"/>
                </a:solidFill>
                <a:latin typeface="Segoe UI"/>
              </a:defRPr>
            </a:pPr>
            <a:r>
              <a:t>•  Glassmorphic Tab Navbar: </a:t>
            </a:r>
            <a:r>
              <a:rPr sz="1600" b="0">
                <a:solidFill>
                  <a:srgbClr val="CDD6F4"/>
                </a:solidFill>
                <a:latin typeface="Segoe UI"/>
              </a:rPr>
              <a:t>A premium Segmented Pill navigation bar utilizing HSL custom colors and hover scale transforms, optimizing room for mobile/panel resizing.</a:t>
            </a:r>
          </a:p>
          <a:p>
            <a:pPr>
              <a:spcAft>
                <a:spcPts val="1600"/>
              </a:spcAft>
              <a:defRPr sz="1800" b="1">
                <a:solidFill>
                  <a:srgbClr val="CBA6F7"/>
                </a:solidFill>
                <a:latin typeface="Segoe UI"/>
              </a:defRPr>
            </a:pPr>
            <a:r>
              <a:t>•  On-Demand Selective Cache Clears: </a:t>
            </a:r>
            <a:r>
              <a:rPr sz="1600" b="0">
                <a:solidFill>
                  <a:srgbClr val="CDD6F4"/>
                </a:solidFill>
                <a:latin typeface="Segoe UI"/>
              </a:rPr>
              <a:t>Clicking 'Regenerate' evicts the target item and all downstream steps from the memory store cache, triggering a partial graph execution.</a:t>
            </a:r>
          </a:p>
          <a:p>
            <a:pPr>
              <a:spcAft>
                <a:spcPts val="1600"/>
              </a:spcAft>
              <a:defRPr sz="1800" b="1">
                <a:solidFill>
                  <a:srgbClr val="CBA6F7"/>
                </a:solidFill>
                <a:latin typeface="Segoe UI"/>
              </a:defRPr>
            </a:pPr>
            <a:r>
              <a:t>•  Interactive Learning Tools: </a:t>
            </a:r>
            <a:r>
              <a:rPr sz="1600" b="0">
                <a:solidFill>
                  <a:srgbClr val="CDD6F4"/>
                </a:solidFill>
                <a:latin typeface="Segoe UI"/>
              </a:rPr>
              <a:t>Generates five-question multiple choice quizzes and step-by-step learning roadmaps embedded with checkpoints and completion status checkboxes.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89B4FA"/>
                </a:solidFill>
                <a:latin typeface="Segoe UI"/>
              </a:defRPr>
            </a:pPr>
            <a:r>
              <a:t>Data Ingestion &amp; RAG Pipeline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56692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89B4FA"/>
                </a:solidFill>
                <a:latin typeface="Segoe UI"/>
              </a:defRPr>
            </a:pPr>
            <a:r>
              <a:t>• 30-Second Block Grouping: </a:t>
            </a:r>
            <a:r>
              <a:rPr sz="1300" b="0">
                <a:solidFill>
                  <a:srgbClr val="CDD6F4"/>
                </a:solidFill>
                <a:latin typeface="Segoe UI"/>
              </a:rPr>
              <a:t>Rather than embedding individual sentences (which bloats context size), segments are grouped by 30-second blocks. This compression shrinks token consumption by 80% while retaining chronological stamps.</a:t>
            </a:r>
          </a:p>
          <a:p>
            <a:pPr>
              <a:spcAft>
                <a:spcPts val="800"/>
              </a:spcAft>
              <a:defRPr sz="1500" b="1">
                <a:solidFill>
                  <a:srgbClr val="89B4FA"/>
                </a:solidFill>
                <a:latin typeface="Segoe UI"/>
              </a:defRPr>
            </a:pPr>
            <a:r>
              <a:t>• Local Vectorization (CPU): </a:t>
            </a:r>
            <a:r>
              <a:rPr sz="1300" b="0">
                <a:solidFill>
                  <a:srgbClr val="CDD6F4"/>
                </a:solidFill>
                <a:latin typeface="Segoe UI"/>
              </a:rPr>
              <a:t>Text chunks are embedded locally using sentence-transformers (all-MiniLM-L6-v2) on the CPU. It is 100% free, fast, and does not require paid vector database services.</a:t>
            </a:r>
          </a:p>
          <a:p>
            <a:pPr>
              <a:spcAft>
                <a:spcPts val="800"/>
              </a:spcAft>
              <a:defRPr sz="1500" b="1">
                <a:solidFill>
                  <a:srgbClr val="89B4FA"/>
                </a:solidFill>
                <a:latin typeface="Segoe UI"/>
              </a:defRPr>
            </a:pPr>
            <a:r>
              <a:t>• FAISS Semantic Search: </a:t>
            </a:r>
            <a:r>
              <a:rPr sz="1300" b="0">
                <a:solidFill>
                  <a:srgbClr val="CDD6F4"/>
                </a:solidFill>
                <a:latin typeface="Segoe UI"/>
              </a:rPr>
              <a:t>User custom questions are vectorized, matched against the vector database for top-3 relevant context chunks, and passed to the LLM.</a:t>
            </a:r>
          </a:p>
          <a:p>
            <a:pPr>
              <a:spcAft>
                <a:spcPts val="800"/>
              </a:spcAft>
              <a:defRPr sz="1500" b="1">
                <a:solidFill>
                  <a:srgbClr val="89B4FA"/>
                </a:solidFill>
                <a:latin typeface="Segoe UI"/>
              </a:defRPr>
            </a:pPr>
            <a:r>
              <a:t>• Serverless LLM Grounding: </a:t>
            </a:r>
            <a:r>
              <a:rPr sz="1300" b="0">
                <a:solidFill>
                  <a:srgbClr val="CDD6F4"/>
                </a:solidFill>
                <a:latin typeface="Segoe UI"/>
              </a:rPr>
              <a:t>The LLM receives the relevant transcript chunks and answers strictly based on them, completely preventing AI hallucinations.</a:t>
            </a:r>
          </a:p>
        </p:txBody>
      </p:sp>
      <p:pic>
        <p:nvPicPr>
          <p:cNvPr id="4" name="Picture 3" descr="backend_workflow_diagram_17841109371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463040"/>
            <a:ext cx="4754880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89B4FA"/>
                </a:solidFill>
                <a:latin typeface="Segoe UI"/>
              </a:defRPr>
            </a:pPr>
            <a:r>
              <a:t>LangGraph Stateful Agents Orchestration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56692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CBA6F7"/>
                </a:solidFill>
                <a:latin typeface="Segoe UI"/>
              </a:defRPr>
            </a:pPr>
            <a:r>
              <a:t>• summarizer Node: </a:t>
            </a:r>
            <a:r>
              <a:rPr sz="1300" b="0">
                <a:solidFill>
                  <a:srgbClr val="CDD6F4"/>
                </a:solidFill>
                <a:latin typeface="Segoe UI"/>
              </a:rPr>
              <a:t>Processes grouped transcript segments to output custom Overview, Takeaway, and Action Markdown with timestamp tags.</a:t>
            </a:r>
          </a:p>
          <a:p>
            <a:pPr>
              <a:spcAft>
                <a:spcPts val="800"/>
              </a:spcAft>
              <a:defRPr sz="1500" b="1">
                <a:solidFill>
                  <a:srgbClr val="CBA6F7"/>
                </a:solidFill>
                <a:latin typeface="Segoe UI"/>
              </a:defRPr>
            </a:pPr>
            <a:r>
              <a:t>• quiz Node: </a:t>
            </a:r>
            <a:r>
              <a:rPr sz="1300" b="0">
                <a:solidFill>
                  <a:srgbClr val="CDD6F4"/>
                </a:solidFill>
                <a:latin typeface="Segoe UI"/>
              </a:rPr>
              <a:t>Receives summary as context and maps exactly five multiple-choice questions into a raw JSON array schema.</a:t>
            </a:r>
          </a:p>
          <a:p>
            <a:pPr>
              <a:spcAft>
                <a:spcPts val="800"/>
              </a:spcAft>
              <a:defRPr sz="1500" b="1">
                <a:solidFill>
                  <a:srgbClr val="CBA6F7"/>
                </a:solidFill>
                <a:latin typeface="Segoe UI"/>
              </a:defRPr>
            </a:pPr>
            <a:r>
              <a:t>• roadmap Node: </a:t>
            </a:r>
            <a:r>
              <a:rPr sz="1300" b="0">
                <a:solidFill>
                  <a:srgbClr val="CDD6F4"/>
                </a:solidFill>
                <a:latin typeface="Segoe UI"/>
              </a:rPr>
              <a:t>Analyzes the summary to build 3 to 5 study milestones and checklists linked to video timestamps.</a:t>
            </a:r>
          </a:p>
          <a:p>
            <a:pPr>
              <a:spcAft>
                <a:spcPts val="800"/>
              </a:spcAft>
              <a:defRPr sz="1500" b="1">
                <a:solidFill>
                  <a:srgbClr val="CBA6F7"/>
                </a:solidFill>
                <a:latin typeface="Segoe UI"/>
              </a:defRPr>
            </a:pPr>
            <a:r>
              <a:t>• StateGraph Configuration: </a:t>
            </a:r>
            <a:r>
              <a:rPr sz="1300" b="0">
                <a:solidFill>
                  <a:srgbClr val="CDD6F4"/>
                </a:solidFill>
                <a:latin typeface="Segoe UI"/>
              </a:rPr>
              <a:t>The StateGraph orchestrator compiles state nodes and uses conditional routing edges to route execution dynamically based on client target requests (Summary -&gt; Quiz -&gt; Roadmap).</a:t>
            </a:r>
          </a:p>
        </p:txBody>
      </p:sp>
      <p:pic>
        <p:nvPicPr>
          <p:cNvPr id="4" name="Picture 3" descr="langgraph_state_diagram_17841114146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463040"/>
            <a:ext cx="4754880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89B4FA"/>
                </a:solidFill>
                <a:latin typeface="Segoe UI"/>
              </a:defRPr>
            </a:pPr>
            <a:r>
              <a:t>E2E Runtime System Sequence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56692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89B4FA"/>
                </a:solidFill>
                <a:latin typeface="Segoe UI"/>
              </a:defRPr>
            </a:pPr>
            <a:r>
              <a:t>• Initial Watch Load: </a:t>
            </a:r>
            <a:r>
              <a:rPr sz="1300" b="0">
                <a:solidFill>
                  <a:srgbClr val="CDD6F4"/>
                </a:solidFill>
                <a:latin typeface="Segoe UI"/>
              </a:rPr>
              <a:t>The Extension captures the watch video ID, prompting the background worker to invoke index vectorizing on the backend.</a:t>
            </a:r>
          </a:p>
          <a:p>
            <a:pPr>
              <a:spcAft>
                <a:spcPts val="800"/>
              </a:spcAft>
              <a:defRPr sz="1500" b="1">
                <a:solidFill>
                  <a:srgbClr val="89B4FA"/>
                </a:solidFill>
                <a:latin typeface="Segoe UI"/>
              </a:defRPr>
            </a:pPr>
            <a:r>
              <a:t>• Tool Click API Calls: </a:t>
            </a:r>
            <a:r>
              <a:rPr sz="1300" b="0">
                <a:solidFill>
                  <a:srgbClr val="CDD6F4"/>
                </a:solidFill>
                <a:latin typeface="Segoe UI"/>
              </a:rPr>
              <a:t>Selecting Summary, Quiz, or Roadmap tabs triggers FastAPI endpoint calls. The backend returns structured JSON to render items interactively.</a:t>
            </a:r>
          </a:p>
          <a:p>
            <a:pPr>
              <a:spcAft>
                <a:spcPts val="800"/>
              </a:spcAft>
              <a:defRPr sz="1500" b="1">
                <a:solidFill>
                  <a:srgbClr val="89B4FA"/>
                </a:solidFill>
                <a:latin typeface="Segoe UI"/>
              </a:defRPr>
            </a:pPr>
            <a:r>
              <a:t>• Chat Q&amp;A RAG Loop: </a:t>
            </a:r>
            <a:r>
              <a:rPr sz="1300" b="0">
                <a:solidFill>
                  <a:srgbClr val="CDD6F4"/>
                </a:solidFill>
                <a:latin typeface="Segoe UI"/>
              </a:rPr>
              <a:t>Submitting custom questions retrieves localized context blocks from the FAISS database to generate grounded LLM completions.</a:t>
            </a:r>
          </a:p>
          <a:p>
            <a:pPr>
              <a:spcAft>
                <a:spcPts val="800"/>
              </a:spcAft>
              <a:defRPr sz="1500" b="1">
                <a:solidFill>
                  <a:srgbClr val="89B4FA"/>
                </a:solidFill>
                <a:latin typeface="Segoe UI"/>
              </a:defRPr>
            </a:pPr>
            <a:r>
              <a:t>• Direct Video Seeks: </a:t>
            </a:r>
            <a:r>
              <a:rPr sz="1300" b="0">
                <a:solidFill>
                  <a:srgbClr val="CDD6F4"/>
                </a:solidFill>
                <a:latin typeface="Segoe UI"/>
              </a:rPr>
              <a:t>Clicking timestamp badges extracts target seconds, instructing the HTML5 video player to jump directly to the topic starting point.</a:t>
            </a:r>
          </a:p>
        </p:txBody>
      </p:sp>
      <p:pic>
        <p:nvPicPr>
          <p:cNvPr id="4" name="Picture 3" descr="sequence_diagram_no_fc_17840533330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463040"/>
            <a:ext cx="4754880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89B4FA"/>
                </a:solidFill>
                <a:latin typeface="Segoe UI"/>
              </a:defRPr>
            </a:pPr>
            <a:r>
              <a:t>Clean Code &amp; Modular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6015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600" b="1">
                <a:solidFill>
                  <a:srgbClr val="89B4FA"/>
                </a:solidFill>
                <a:latin typeface="Consolas"/>
              </a:defRPr>
            </a:pPr>
            <a:r>
              <a:t>•  config.py: </a:t>
            </a:r>
            <a:r>
              <a:rPr sz="1400" b="0">
                <a:solidFill>
                  <a:srgbClr val="CDD6F4"/>
                </a:solidFill>
                <a:latin typeface="Segoe UI"/>
              </a:rPr>
              <a:t>Centralizes environments loading, API keys, global Hugging Face client configurations, and caches.</a:t>
            </a:r>
          </a:p>
          <a:p>
            <a:pPr>
              <a:spcAft>
                <a:spcPts val="800"/>
              </a:spcAft>
              <a:defRPr sz="1600" b="1">
                <a:solidFill>
                  <a:srgbClr val="89B4FA"/>
                </a:solidFill>
                <a:latin typeface="Consolas"/>
              </a:defRPr>
            </a:pPr>
            <a:r>
              <a:t>•  models.py: </a:t>
            </a:r>
            <a:r>
              <a:rPr sz="1400" b="0">
                <a:solidFill>
                  <a:srgbClr val="CDD6F4"/>
                </a:solidFill>
                <a:latin typeface="Segoe UI"/>
              </a:rPr>
              <a:t>Declares all Pydantic request/response validation schemas and the LangGraph State model.</a:t>
            </a:r>
          </a:p>
          <a:p>
            <a:pPr>
              <a:spcAft>
                <a:spcPts val="800"/>
              </a:spcAft>
              <a:defRPr sz="1600" b="1">
                <a:solidFill>
                  <a:srgbClr val="89B4FA"/>
                </a:solidFill>
                <a:latin typeface="Consolas"/>
              </a:defRPr>
            </a:pPr>
            <a:r>
              <a:t>•  prompts.py: </a:t>
            </a:r>
            <a:r>
              <a:rPr sz="1400" b="0">
                <a:solidFill>
                  <a:srgbClr val="CDD6F4"/>
                </a:solidFill>
                <a:latin typeface="Segoe UI"/>
              </a:rPr>
              <a:t>Isolates the system instructions and formatting prompt templates from execution code.</a:t>
            </a:r>
          </a:p>
          <a:p>
            <a:pPr>
              <a:spcAft>
                <a:spcPts val="800"/>
              </a:spcAft>
              <a:defRPr sz="1600" b="1">
                <a:solidFill>
                  <a:srgbClr val="89B4FA"/>
                </a:solidFill>
                <a:latin typeface="Consolas"/>
              </a:defRPr>
            </a:pPr>
            <a:r>
              <a:t>•  services.py: </a:t>
            </a:r>
            <a:r>
              <a:rPr sz="1400" b="0">
                <a:solidFill>
                  <a:srgbClr val="CDD6F4"/>
                </a:solidFill>
                <a:latin typeface="Segoe UI"/>
              </a:rPr>
              <a:t>Encapsulates transcript fetching, 30s block grouping, and FAISS indexing chains.</a:t>
            </a:r>
          </a:p>
          <a:p>
            <a:pPr>
              <a:spcAft>
                <a:spcPts val="800"/>
              </a:spcAft>
              <a:defRPr sz="1600" b="1">
                <a:solidFill>
                  <a:srgbClr val="89B4FA"/>
                </a:solidFill>
                <a:latin typeface="Consolas"/>
              </a:defRPr>
            </a:pPr>
            <a:r>
              <a:t>•  agents.py: </a:t>
            </a:r>
            <a:r>
              <a:rPr sz="1400" b="0">
                <a:solidFill>
                  <a:srgbClr val="CDD6F4"/>
                </a:solidFill>
                <a:latin typeface="Segoe UI"/>
              </a:rPr>
              <a:t>Compiles the state nodes and conditional routing edges of the LangGraph Pipeline.</a:t>
            </a:r>
          </a:p>
          <a:p>
            <a:pPr>
              <a:spcAft>
                <a:spcPts val="800"/>
              </a:spcAft>
              <a:defRPr sz="1600" b="1">
                <a:solidFill>
                  <a:srgbClr val="89B4FA"/>
                </a:solidFill>
                <a:latin typeface="Consolas"/>
              </a:defRPr>
            </a:pPr>
            <a:r>
              <a:t>•  main.py: </a:t>
            </a:r>
            <a:r>
              <a:rPr sz="1400" b="0">
                <a:solidFill>
                  <a:srgbClr val="CDD6F4"/>
                </a:solidFill>
                <a:latin typeface="Segoe UI"/>
              </a:rPr>
              <a:t>Declares the FastAPI instance, manages CORS, and maps HTTP endpoint routes.</a:t>
            </a:r>
          </a:p>
          <a:p>
            <a:pPr>
              <a:spcAft>
                <a:spcPts val="800"/>
              </a:spcAft>
              <a:defRPr sz="1600" b="1">
                <a:solidFill>
                  <a:srgbClr val="89B4FA"/>
                </a:solidFill>
                <a:latin typeface="Consolas"/>
              </a:defRPr>
            </a:pPr>
            <a:r>
              <a:t>•  backend.py: </a:t>
            </a:r>
            <a:r>
              <a:rPr sz="1400" b="0">
                <a:solidFill>
                  <a:srgbClr val="CDD6F4"/>
                </a:solidFill>
                <a:latin typeface="Segoe UI"/>
              </a:rPr>
              <a:t>Acts as a path injection wrapper, providing backward compatibility to existing uvicorn watch processes.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89B4FA"/>
                </a:solidFill>
                <a:latin typeface="Segoe UI"/>
              </a:defRPr>
            </a:pPr>
            <a:r>
              <a:t>Conclusion &amp; Future Directions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6015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2000"/>
              </a:spcAft>
              <a:defRPr sz="1800" b="1">
                <a:solidFill>
                  <a:srgbClr val="CBA6F7"/>
                </a:solidFill>
                <a:latin typeface="Segoe UI"/>
              </a:defRPr>
            </a:pPr>
            <a:r>
              <a:t>•  Offline Model Execution: </a:t>
            </a:r>
            <a:r>
              <a:rPr sz="1600" b="0">
                <a:solidFill>
                  <a:srgbClr val="CDD6F4"/>
                </a:solidFill>
                <a:latin typeface="Segoe UI"/>
              </a:rPr>
              <a:t>Migrate serverless LLM prompts to run 100% offline using Llama.cpp or Ollama locally on the user's laptop, eliminating Internet and latency dependencies.</a:t>
            </a:r>
          </a:p>
          <a:p>
            <a:pPr>
              <a:spcAft>
                <a:spcPts val="2000"/>
              </a:spcAft>
              <a:defRPr sz="1800" b="1">
                <a:solidFill>
                  <a:srgbClr val="CBA6F7"/>
                </a:solidFill>
                <a:latin typeface="Segoe UI"/>
              </a:defRPr>
            </a:pPr>
            <a:r>
              <a:t>•  Collaborative Learning Rooms: </a:t>
            </a:r>
            <a:r>
              <a:rPr sz="1600" b="0">
                <a:solidFill>
                  <a:srgbClr val="CDD6F4"/>
                </a:solidFill>
                <a:latin typeface="Segoe UI"/>
              </a:rPr>
              <a:t>Implement sharing tools so users can export study roadmaps, custom quiz results, and summaries directly to classrooms or study groups.</a:t>
            </a:r>
          </a:p>
          <a:p>
            <a:pPr>
              <a:spcAft>
                <a:spcPts val="2000"/>
              </a:spcAft>
              <a:defRPr sz="1800" b="1">
                <a:solidFill>
                  <a:srgbClr val="CBA6F7"/>
                </a:solidFill>
                <a:latin typeface="Segoe UI"/>
              </a:defRPr>
            </a:pPr>
            <a:r>
              <a:t>•  Multi-Video Cross-Referencing: </a:t>
            </a:r>
            <a:r>
              <a:rPr sz="1600" b="0">
                <a:solidFill>
                  <a:srgbClr val="CDD6F4"/>
                </a:solidFill>
                <a:latin typeface="Segoe UI"/>
              </a:rPr>
              <a:t>Expand the RAG pipeline to search across entire channels or playlists, building unified multi-video learning roadmaps.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