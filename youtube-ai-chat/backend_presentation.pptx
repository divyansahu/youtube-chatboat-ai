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89B4FA"/>
                </a:solidFill>
                <a:latin typeface="Segoe UI"/>
              </a:defRPr>
            </a:pPr>
            <a:r>
              <a:t>YouTube AI Chat Backend</a:t>
            </a:r>
          </a:p>
          <a:p>
            <a:pPr algn="ctr">
              <a:spcBef>
                <a:spcPts val="1600"/>
              </a:spcBef>
              <a:defRPr sz="2000">
                <a:solidFill>
                  <a:srgbClr val="CBA6F7"/>
                </a:solidFill>
                <a:latin typeface="Segoe UI"/>
              </a:defRPr>
            </a:pPr>
            <a:r>
              <a:t>Functional Deep-Dive: RAG, LangGraph Agents, and API Endpoints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Backend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Modular Design: </a:t>
            </a:r>
            <a:r>
              <a:rPr sz="1500" b="0">
                <a:solidFill>
                  <a:srgbClr val="CDD6F4"/>
                </a:solidFill>
                <a:latin typeface="Segoe UI"/>
              </a:rPr>
              <a:t>The backend is structured into separate Python modules to separate concerns (main entry, services, agents, configuration models, and prompts templates).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Asynchronous REST Endpoints: </a:t>
            </a:r>
            <a:r>
              <a:rPr sz="1500" b="0">
                <a:solidFill>
                  <a:srgbClr val="CDD6F4"/>
                </a:solidFill>
                <a:latin typeface="Segoe UI"/>
              </a:rPr>
              <a:t>FastAPI serves as the core ASGI server, exposing fast, non-blocking asynchronous JSON endpoints for the content extension script.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In-Memory State Caching: </a:t>
            </a:r>
            <a:r>
              <a:rPr sz="1500" b="0">
                <a:solidFill>
                  <a:srgbClr val="CDD6F4"/>
                </a:solidFill>
                <a:latin typeface="Segoe UI"/>
              </a:rPr>
              <a:t>We implement an in-memory database store (`video_store`) containing the FAISS vector database indices and generated structures to minimize API overhead and improve latency.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Serverless LLM Processing: </a:t>
            </a:r>
            <a:r>
              <a:rPr sz="1500" b="0">
                <a:solidFill>
                  <a:srgbClr val="CDD6F4"/>
                </a:solidFill>
                <a:latin typeface="Segoe UI"/>
              </a:rPr>
              <a:t>Leverages Hugging Face Hub inference client endpoints to deploy Llama-3.1-8B models, bypassing limits and ensuring high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Functionality 1: Video Ingestion &amp;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Endpoint: POST /process-video: </a:t>
            </a:r>
            <a:r>
              <a:rPr sz="1400" b="0">
                <a:solidFill>
                  <a:srgbClr val="CDD6F4"/>
                </a:solidFill>
                <a:latin typeface="Segoe UI"/>
              </a:rPr>
              <a:t>Receives the YouTube watch video ID. Verifies if the video is already indexed. Returns cached status if present, avoiding duplicate work.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30-Second Block Grouping: </a:t>
            </a:r>
            <a:r>
              <a:rPr sz="1400" b="0">
                <a:solidFill>
                  <a:srgbClr val="CDD6F4"/>
                </a:solidFill>
                <a:latin typeface="Segoe UI"/>
              </a:rPr>
              <a:t>Rather than analyzing sentences line-by-line, the service groups captions into 30-second intervals (e.g. `[01:00] Text here`). This reduces token payload overhead by 80% while retaining chronological context.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Recursive Splitting: </a:t>
            </a:r>
            <a:r>
              <a:rPr sz="1400" b="0">
                <a:solidFill>
                  <a:srgbClr val="CDD6F4"/>
                </a:solidFill>
                <a:latin typeface="Segoe UI"/>
              </a:rPr>
              <a:t>Splits the grouped transcript text into overlapping chunks of 1000 characters using `RecursiveCharacterTextSplitter` to preserve boundary context.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Local Embeddings: </a:t>
            </a:r>
            <a:r>
              <a:rPr sz="1400" b="0">
                <a:solidFill>
                  <a:srgbClr val="CDD6F4"/>
                </a:solidFill>
                <a:latin typeface="Segoe UI"/>
              </a:rPr>
              <a:t>Vectorizes the text chunks locally using the CPU with `MiniLM-L6-v2` and indexes them inside an in-memory FAISS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Functionality 2: Grounded Q&amp;A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Endpoint: POST /ask: </a:t>
            </a:r>
            <a:r>
              <a:rPr sz="1400" b="0">
                <a:solidFill>
                  <a:srgbClr val="CDD6F4"/>
                </a:solidFill>
                <a:latin typeface="Segoe UI"/>
              </a:rPr>
              <a:t>Accepts the `video_id` and the user's custom `question`. Calls the active FAISS retriever for that video.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Semantic Similarity Search: </a:t>
            </a:r>
            <a:r>
              <a:rPr sz="1400" b="0">
                <a:solidFill>
                  <a:srgbClr val="CDD6F4"/>
                </a:solidFill>
                <a:latin typeface="Segoe UI"/>
              </a:rPr>
              <a:t>Compares the question vector against the local vector database, retrieving the top-3 most matching 30-second context blocks.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RAG Grounding Prompt: </a:t>
            </a:r>
            <a:r>
              <a:rPr sz="1400" b="0">
                <a:solidFill>
                  <a:srgbClr val="CDD6F4"/>
                </a:solidFill>
                <a:latin typeface="Segoe UI"/>
              </a:rPr>
              <a:t>Assembles the prompt containing the retrieved context, instructions to answer only based on that context, and the user's question.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Conversational Generation: </a:t>
            </a:r>
            <a:r>
              <a:rPr sz="1400" b="0">
                <a:solidFill>
                  <a:srgbClr val="CDD6F4"/>
                </a:solidFill>
                <a:latin typeface="Segoe UI"/>
              </a:rPr>
              <a:t>Sends the query to the serverless LLM client to output a precise answer. If the context does not contain the answer, it returns a polite fallback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RAG Pipeline &amp; Video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9B4FA"/>
                </a:solidFill>
                <a:latin typeface="Segoe UI"/>
              </a:defRPr>
            </a:pPr>
            <a:r>
              <a:t>• Ingestion flow: </a:t>
            </a:r>
            <a:r>
              <a:rPr sz="1400" b="0">
                <a:solidFill>
                  <a:srgbClr val="CDD6F4"/>
                </a:solidFill>
                <a:latin typeface="Segoe UI"/>
              </a:rPr>
              <a:t>Fetches subtitles, groups them, splits them, and stores the vectors locally inside the memory cache.</a:t>
            </a:r>
          </a:p>
          <a:p>
            <a:pPr>
              <a:spcAft>
                <a:spcPts val="1400"/>
              </a:spcAft>
              <a:defRPr sz="1600" b="1">
                <a:solidFill>
                  <a:srgbClr val="89B4FA"/>
                </a:solidFill>
                <a:latin typeface="Segoe UI"/>
              </a:defRPr>
            </a:pPr>
            <a:r>
              <a:t>• Retrieval flow: </a:t>
            </a:r>
            <a:r>
              <a:rPr sz="1400" b="0">
                <a:solidFill>
                  <a:srgbClr val="CDD6F4"/>
                </a:solidFill>
                <a:latin typeface="Segoe UI"/>
              </a:rPr>
              <a:t>Performs vector matching to retrieve matched chunks for custom Q&amp;A user questions.</a:t>
            </a:r>
          </a:p>
          <a:p>
            <a:pPr>
              <a:spcAft>
                <a:spcPts val="1400"/>
              </a:spcAft>
              <a:defRPr sz="1600" b="1">
                <a:solidFill>
                  <a:srgbClr val="89B4FA"/>
                </a:solidFill>
                <a:latin typeface="Segoe UI"/>
              </a:defRPr>
            </a:pPr>
            <a:r>
              <a:t>• Prompt grounding: </a:t>
            </a:r>
            <a:r>
              <a:rPr sz="1400" b="0">
                <a:solidFill>
                  <a:srgbClr val="CDD6F4"/>
                </a:solidFill>
                <a:latin typeface="Segoe UI"/>
              </a:rPr>
              <a:t>Uses the serverless LLM to generate responses using only matched chunks, avoiding hallucinations.</a:t>
            </a:r>
          </a:p>
        </p:txBody>
      </p:sp>
      <p:pic>
        <p:nvPicPr>
          <p:cNvPr id="4" name="Picture 3" descr="backend_workflow_diagram_1784110937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Functionality 3: Stateful Summary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Endpoint: POST /summary: </a:t>
            </a:r>
            <a:r>
              <a:rPr sz="1400" b="0">
                <a:solidFill>
                  <a:srgbClr val="CDD6F4"/>
                </a:solidFill>
                <a:latin typeface="Segoe UI"/>
              </a:rPr>
              <a:t>Acts as the starting pipeline node. Fetches the cached transcript or triggers ingestion on-demand.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Token Limitation Handling: </a:t>
            </a:r>
            <a:r>
              <a:rPr sz="1400" b="0">
                <a:solidFill>
                  <a:srgbClr val="CDD6F4"/>
                </a:solidFill>
                <a:latin typeface="Segoe UI"/>
              </a:rPr>
              <a:t>Slices the transcript to a maximum of 40,000 characters to prevent out-of-token limits while invoking the LLM.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Overview &amp; Key Takeaways: </a:t>
            </a:r>
            <a:r>
              <a:rPr sz="1400" b="0">
                <a:solidFill>
                  <a:srgbClr val="CDD6F4"/>
                </a:solidFill>
                <a:latin typeface="Segoe UI"/>
              </a:rPr>
              <a:t>The LLM summarizes the video into three clean Markdown sections: Overview, Key Takeaways, and Action Items.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Timestamp Tagging: </a:t>
            </a:r>
            <a:r>
              <a:rPr sz="1400" b="0">
                <a:solidFill>
                  <a:srgbClr val="CDD6F4"/>
                </a:solidFill>
                <a:latin typeface="Segoe UI"/>
              </a:rPr>
              <a:t>Instructs the LLM to output [MM:SS] timestamp references in the summary text. These are converted to clickable player seek badges on the client 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Functionality 4: Dynamic Assessment Creator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Endpoint: POST /quiz: </a:t>
            </a:r>
            <a:r>
              <a:rPr sz="1400" b="0">
                <a:solidFill>
                  <a:srgbClr val="CDD6F4"/>
                </a:solidFill>
                <a:latin typeface="Segoe UI"/>
              </a:rPr>
              <a:t>Invokes the compiled StateGraph targeting the quiz node. Ensures summary is present before running.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Summary Context Grounding: </a:t>
            </a:r>
            <a:r>
              <a:rPr sz="1400" b="0">
                <a:solidFill>
                  <a:srgbClr val="CDD6F4"/>
                </a:solidFill>
                <a:latin typeface="Segoe UI"/>
              </a:rPr>
              <a:t>Uses the generated summary as the context input to build a multiple-choice quiz testing the user's understanding of the video content.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5-Question MCQ Schema: </a:t>
            </a:r>
            <a:r>
              <a:rPr sz="1400" b="0">
                <a:solidFill>
                  <a:srgbClr val="CDD6F4"/>
                </a:solidFill>
                <a:latin typeface="Segoe UI"/>
              </a:rPr>
              <a:t>Instructs the LLM to output exactly 5 questions, each having 4 options and exactly one correct answer (index 0 to 3).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Robust JSON Formatting: </a:t>
            </a:r>
            <a:r>
              <a:rPr sz="1400" b="0">
                <a:solidFill>
                  <a:srgbClr val="CDD6F4"/>
                </a:solidFill>
                <a:latin typeface="Segoe UI"/>
              </a:rPr>
              <a:t>Runs a fallback cleanup regex parser to strip markdown blocks (like ```json) and parse brackets, ensuring a reliable JSON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Functionality 5: Timeline Roadmap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Endpoint: POST /roadmap: </a:t>
            </a:r>
            <a:r>
              <a:rPr sz="1400" b="0">
                <a:solidFill>
                  <a:srgbClr val="CDD6F4"/>
                </a:solidFill>
                <a:latin typeface="Segoe UI"/>
              </a:rPr>
              <a:t>Invokes the orchestrator workflow to build a structured learning path with milestones and outcomes.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3-to-5 Step Milestones: </a:t>
            </a:r>
            <a:r>
              <a:rPr sz="1400" b="0">
                <a:solidFill>
                  <a:srgbClr val="CDD6F4"/>
                </a:solidFill>
                <a:latin typeface="Segoe UI"/>
              </a:rPr>
              <a:t>Creates a customized chronological roadmap designed to guide the viewer from basic concepts to advanced applications.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Learning Checkpoints: </a:t>
            </a:r>
            <a:r>
              <a:rPr sz="1400" b="0">
                <a:solidFill>
                  <a:srgbClr val="CDD6F4"/>
                </a:solidFill>
                <a:latin typeface="Segoe UI"/>
              </a:rPr>
              <a:t>Defines 2 to 3 target learning checkpoints or outcomes for each milestone step to test and verify skills.</a:t>
            </a:r>
          </a:p>
          <a:p>
            <a:pPr>
              <a:spcAft>
                <a:spcPts val="1000"/>
              </a:spcAft>
              <a:defRPr sz="1700" b="1">
                <a:solidFill>
                  <a:srgbClr val="89B4FA"/>
                </a:solidFill>
                <a:latin typeface="Segoe UI"/>
              </a:defRPr>
            </a:pPr>
            <a:r>
              <a:t>•  Chronological Seek Bindings: </a:t>
            </a:r>
            <a:r>
              <a:rPr sz="1400" b="0">
                <a:solidFill>
                  <a:srgbClr val="CDD6F4"/>
                </a:solidFill>
                <a:latin typeface="Segoe UI"/>
              </a:rPr>
              <a:t>Extracts the exact starting timestamp where the milestone's topic is discussed, enabling direct video jumps in the browser.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LangGraph Stateful Agents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BA6F7"/>
                </a:solidFill>
                <a:latin typeface="Segoe UI"/>
              </a:defRPr>
            </a:pPr>
            <a:r>
              <a:t>• Stateful Nodes: </a:t>
            </a:r>
            <a:r>
              <a:rPr sz="1400" b="0">
                <a:solidFill>
                  <a:srgbClr val="CDD6F4"/>
                </a:solidFill>
                <a:latin typeface="Segoe UI"/>
              </a:rPr>
              <a:t>Summary, Quiz, and Roadmap tasks are mapped to independent state nodes in the Graph.</a:t>
            </a:r>
          </a:p>
          <a:p>
            <a:pPr>
              <a:spcAft>
                <a:spcPts val="1400"/>
              </a:spcAft>
              <a:defRPr sz="1600" b="1">
                <a:solidFill>
                  <a:srgbClr val="CBA6F7"/>
                </a:solidFill>
                <a:latin typeface="Segoe UI"/>
              </a:defRPr>
            </a:pPr>
            <a:r>
              <a:t>• Conveyor Belt State: </a:t>
            </a:r>
            <a:r>
              <a:rPr sz="1400" b="0">
                <a:solidFill>
                  <a:srgbClr val="CDD6F4"/>
                </a:solidFill>
                <a:latin typeface="Segoe UI"/>
              </a:rPr>
              <a:t>Each node reads and updates a shared PipelineState clipboard tracking target outcomes.</a:t>
            </a:r>
          </a:p>
          <a:p>
            <a:pPr>
              <a:spcAft>
                <a:spcPts val="1400"/>
              </a:spcAft>
              <a:defRPr sz="1600" b="1">
                <a:solidFill>
                  <a:srgbClr val="CBA6F7"/>
                </a:solidFill>
                <a:latin typeface="Segoe UI"/>
              </a:defRPr>
            </a:pPr>
            <a:r>
              <a:t>• Conditional Routing Edges: </a:t>
            </a:r>
            <a:r>
              <a:rPr sz="1400" b="0">
                <a:solidFill>
                  <a:srgbClr val="CDD6F4"/>
                </a:solidFill>
                <a:latin typeface="Segoe UI"/>
              </a:rPr>
              <a:t>Routing links read the target parameter to bypass or execute downstream nodes dynamically.</a:t>
            </a:r>
          </a:p>
        </p:txBody>
      </p:sp>
      <p:pic>
        <p:nvPicPr>
          <p:cNvPr id="4" name="Picture 3" descr="langgraph_state_diagram_1784111414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E2E Runtime System Sequence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9B4FA"/>
                </a:solidFill>
                <a:latin typeface="Segoe UI"/>
              </a:defRPr>
            </a:pPr>
            <a:r>
              <a:t>• Navigation detection: </a:t>
            </a:r>
            <a:r>
              <a:rPr sz="1400" b="0">
                <a:solidFill>
                  <a:srgbClr val="CDD6F4"/>
                </a:solidFill>
                <a:latin typeface="Segoe UI"/>
              </a:rPr>
              <a:t>Content script watches URL navigations and triggers video index handshakes.</a:t>
            </a:r>
          </a:p>
          <a:p>
            <a:pPr>
              <a:spcAft>
                <a:spcPts val="1400"/>
              </a:spcAft>
              <a:defRPr sz="1600" b="1">
                <a:solidFill>
                  <a:srgbClr val="89B4FA"/>
                </a:solidFill>
                <a:latin typeface="Segoe UI"/>
              </a:defRPr>
            </a:pPr>
            <a:r>
              <a:t>• Asynchronous queries: </a:t>
            </a:r>
            <a:r>
              <a:rPr sz="1400" b="0">
                <a:solidFill>
                  <a:srgbClr val="CDD6F4"/>
                </a:solidFill>
                <a:latin typeface="Segoe UI"/>
              </a:rPr>
              <a:t>Clicking study tabs invokes endpoints, fetching cached index models or running graphs.</a:t>
            </a:r>
          </a:p>
          <a:p>
            <a:pPr>
              <a:spcAft>
                <a:spcPts val="1400"/>
              </a:spcAft>
              <a:defRPr sz="1600" b="1">
                <a:solidFill>
                  <a:srgbClr val="89B4FA"/>
                </a:solidFill>
                <a:latin typeface="Segoe UI"/>
              </a:defRPr>
            </a:pPr>
            <a:r>
              <a:t>• Click-to-seek playback: </a:t>
            </a:r>
            <a:r>
              <a:rPr sz="1400" b="0">
                <a:solidFill>
                  <a:srgbClr val="CDD6F4"/>
                </a:solidFill>
                <a:latin typeface="Segoe UI"/>
              </a:rPr>
              <a:t>Timeline badges parsed into seek anchors update player playback targets in real-time.</a:t>
            </a:r>
          </a:p>
        </p:txBody>
      </p:sp>
      <p:pic>
        <p:nvPicPr>
          <p:cNvPr id="4" name="Picture 3" descr="sequence_diagram_no_fc_1784053333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Cache Management &amp; Regeneration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Force Regenerate Parameter: </a:t>
            </a:r>
            <a:r>
              <a:rPr sz="1400" b="0">
                <a:solidFill>
                  <a:srgbClr val="CDD6F4"/>
                </a:solidFill>
                <a:latin typeface="Segoe UI"/>
              </a:rPr>
              <a:t>Requests can contain `force_regenerate = true` to instruct the server to evict existing items from the state.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Selective Cache Eviction: </a:t>
            </a:r>
            <a:r>
              <a:rPr sz="1400" b="0">
                <a:solidFill>
                  <a:srgbClr val="CDD6F4"/>
                </a:solidFill>
                <a:latin typeface="Segoe UI"/>
              </a:rPr>
              <a:t>Clearing a summary automatically evicts downstream items (quiz and roadmap) to preserve chronological consistency.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Delete Endpoint: DELETE /video/{video_id}: </a:t>
            </a:r>
            <a:r>
              <a:rPr sz="1400" b="0">
                <a:solidFill>
                  <a:srgbClr val="CDD6F4"/>
                </a:solidFill>
                <a:latin typeface="Segoe UI"/>
              </a:rPr>
              <a:t>Permits explicit removal of a video's FAISS index and generated data from memory cache.</a:t>
            </a:r>
          </a:p>
          <a:p>
            <a:pPr>
              <a:spcAft>
                <a:spcPts val="1000"/>
              </a:spcAft>
              <a:defRPr sz="1700" b="1">
                <a:solidFill>
                  <a:srgbClr val="CBA6F7"/>
                </a:solidFill>
                <a:latin typeface="Segoe UI"/>
              </a:defRPr>
            </a:pPr>
            <a:r>
              <a:t>•  Garbage Collection Safety: </a:t>
            </a:r>
            <a:r>
              <a:rPr sz="1400" b="0">
                <a:solidFill>
                  <a:srgbClr val="CDD6F4"/>
                </a:solidFill>
                <a:latin typeface="Segoe UI"/>
              </a:rPr>
              <a:t>Ensures server restarts reload the index on-demand without memory bloats or leaks.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